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646"/>
  </p:normalViewPr>
  <p:slideViewPr>
    <p:cSldViewPr snapToGrid="0">
      <p:cViewPr>
        <p:scale>
          <a:sx n="104" d="100"/>
          <a:sy n="104" d="100"/>
        </p:scale>
        <p:origin x="360"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631BA-5E98-EB47-030B-F3760D41EB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0EFC2CB-F05C-4466-D09B-1C4926EFE9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91014D6-8789-F51D-7CF8-2322C3F2EDAB}"/>
              </a:ext>
            </a:extLst>
          </p:cNvPr>
          <p:cNvSpPr>
            <a:spLocks noGrp="1"/>
          </p:cNvSpPr>
          <p:nvPr>
            <p:ph type="dt" sz="half" idx="10"/>
          </p:nvPr>
        </p:nvSpPr>
        <p:spPr/>
        <p:txBody>
          <a:bodyPr/>
          <a:lstStyle/>
          <a:p>
            <a:fld id="{E11E209C-680E-8743-98E1-13CB44D35A65}" type="datetimeFigureOut">
              <a:rPr lang="en-US" smtClean="0"/>
              <a:t>9/24/26</a:t>
            </a:fld>
            <a:endParaRPr lang="en-US"/>
          </a:p>
        </p:txBody>
      </p:sp>
      <p:sp>
        <p:nvSpPr>
          <p:cNvPr id="5" name="Footer Placeholder 4">
            <a:extLst>
              <a:ext uri="{FF2B5EF4-FFF2-40B4-BE49-F238E27FC236}">
                <a16:creationId xmlns:a16="http://schemas.microsoft.com/office/drawing/2014/main" id="{6C9E181C-8E40-9F92-2612-4AEFEBA2CD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AE7323-8A01-4C3F-0834-0831E90674D9}"/>
              </a:ext>
            </a:extLst>
          </p:cNvPr>
          <p:cNvSpPr>
            <a:spLocks noGrp="1"/>
          </p:cNvSpPr>
          <p:nvPr>
            <p:ph type="sldNum" sz="quarter" idx="12"/>
          </p:nvPr>
        </p:nvSpPr>
        <p:spPr/>
        <p:txBody>
          <a:bodyPr/>
          <a:lstStyle/>
          <a:p>
            <a:fld id="{7ED56B35-6A8E-814E-9975-00F09B6C6179}" type="slidenum">
              <a:rPr lang="en-US" smtClean="0"/>
              <a:t>‹#›</a:t>
            </a:fld>
            <a:endParaRPr lang="en-US"/>
          </a:p>
        </p:txBody>
      </p:sp>
    </p:spTree>
    <p:extLst>
      <p:ext uri="{BB962C8B-B14F-4D97-AF65-F5344CB8AC3E}">
        <p14:creationId xmlns:p14="http://schemas.microsoft.com/office/powerpoint/2010/main" val="3664396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FB594-69E4-5316-BEFE-EA6C56ACC3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B9D530-7426-77AE-D8D2-EEF58B83FC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5791BC-6F61-1983-531C-28AC0A058ADB}"/>
              </a:ext>
            </a:extLst>
          </p:cNvPr>
          <p:cNvSpPr>
            <a:spLocks noGrp="1"/>
          </p:cNvSpPr>
          <p:nvPr>
            <p:ph type="dt" sz="half" idx="10"/>
          </p:nvPr>
        </p:nvSpPr>
        <p:spPr/>
        <p:txBody>
          <a:bodyPr/>
          <a:lstStyle/>
          <a:p>
            <a:fld id="{E11E209C-680E-8743-98E1-13CB44D35A65}" type="datetimeFigureOut">
              <a:rPr lang="en-US" smtClean="0"/>
              <a:t>9/24/26</a:t>
            </a:fld>
            <a:endParaRPr lang="en-US"/>
          </a:p>
        </p:txBody>
      </p:sp>
      <p:sp>
        <p:nvSpPr>
          <p:cNvPr id="5" name="Footer Placeholder 4">
            <a:extLst>
              <a:ext uri="{FF2B5EF4-FFF2-40B4-BE49-F238E27FC236}">
                <a16:creationId xmlns:a16="http://schemas.microsoft.com/office/drawing/2014/main" id="{EB6D2083-EB9A-79FA-4171-D4E5F41A2C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7006D7-EFE3-D6C5-6C4D-EA4D4967EEE2}"/>
              </a:ext>
            </a:extLst>
          </p:cNvPr>
          <p:cNvSpPr>
            <a:spLocks noGrp="1"/>
          </p:cNvSpPr>
          <p:nvPr>
            <p:ph type="sldNum" sz="quarter" idx="12"/>
          </p:nvPr>
        </p:nvSpPr>
        <p:spPr/>
        <p:txBody>
          <a:bodyPr/>
          <a:lstStyle/>
          <a:p>
            <a:fld id="{7ED56B35-6A8E-814E-9975-00F09B6C6179}" type="slidenum">
              <a:rPr lang="en-US" smtClean="0"/>
              <a:t>‹#›</a:t>
            </a:fld>
            <a:endParaRPr lang="en-US"/>
          </a:p>
        </p:txBody>
      </p:sp>
    </p:spTree>
    <p:extLst>
      <p:ext uri="{BB962C8B-B14F-4D97-AF65-F5344CB8AC3E}">
        <p14:creationId xmlns:p14="http://schemas.microsoft.com/office/powerpoint/2010/main" val="1595567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0C66C-9060-5026-EE76-C926B6E5F4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FD22B8-C019-4B3F-DBD5-FB462F92B47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DFF1A5-58B7-9382-7EE7-166B2070812D}"/>
              </a:ext>
            </a:extLst>
          </p:cNvPr>
          <p:cNvSpPr>
            <a:spLocks noGrp="1"/>
          </p:cNvSpPr>
          <p:nvPr>
            <p:ph type="dt" sz="half" idx="10"/>
          </p:nvPr>
        </p:nvSpPr>
        <p:spPr/>
        <p:txBody>
          <a:bodyPr/>
          <a:lstStyle/>
          <a:p>
            <a:fld id="{E11E209C-680E-8743-98E1-13CB44D35A65}" type="datetimeFigureOut">
              <a:rPr lang="en-US" smtClean="0"/>
              <a:t>9/24/26</a:t>
            </a:fld>
            <a:endParaRPr lang="en-US"/>
          </a:p>
        </p:txBody>
      </p:sp>
      <p:sp>
        <p:nvSpPr>
          <p:cNvPr id="5" name="Footer Placeholder 4">
            <a:extLst>
              <a:ext uri="{FF2B5EF4-FFF2-40B4-BE49-F238E27FC236}">
                <a16:creationId xmlns:a16="http://schemas.microsoft.com/office/drawing/2014/main" id="{23629B05-C3AF-9BC0-0DF8-85FC8DB79F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51004E-60DD-448E-083F-AFE9DEC7DB7C}"/>
              </a:ext>
            </a:extLst>
          </p:cNvPr>
          <p:cNvSpPr>
            <a:spLocks noGrp="1"/>
          </p:cNvSpPr>
          <p:nvPr>
            <p:ph type="sldNum" sz="quarter" idx="12"/>
          </p:nvPr>
        </p:nvSpPr>
        <p:spPr/>
        <p:txBody>
          <a:bodyPr/>
          <a:lstStyle/>
          <a:p>
            <a:fld id="{7ED56B35-6A8E-814E-9975-00F09B6C6179}" type="slidenum">
              <a:rPr lang="en-US" smtClean="0"/>
              <a:t>‹#›</a:t>
            </a:fld>
            <a:endParaRPr lang="en-US"/>
          </a:p>
        </p:txBody>
      </p:sp>
    </p:spTree>
    <p:extLst>
      <p:ext uri="{BB962C8B-B14F-4D97-AF65-F5344CB8AC3E}">
        <p14:creationId xmlns:p14="http://schemas.microsoft.com/office/powerpoint/2010/main" val="3155603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CE470-42F3-3F1B-5592-6756BDAAE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195DAF-D166-DD1D-88F6-4A96994279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76AFF67-2338-5B48-0B2C-108CB25E56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2FB9923-F64E-21D3-3A15-AF7A69B94E93}"/>
              </a:ext>
            </a:extLst>
          </p:cNvPr>
          <p:cNvSpPr>
            <a:spLocks noGrp="1"/>
          </p:cNvSpPr>
          <p:nvPr>
            <p:ph type="dt" sz="half" idx="10"/>
          </p:nvPr>
        </p:nvSpPr>
        <p:spPr/>
        <p:txBody>
          <a:bodyPr/>
          <a:lstStyle/>
          <a:p>
            <a:fld id="{E11E209C-680E-8743-98E1-13CB44D35A65}" type="datetimeFigureOut">
              <a:rPr lang="en-US" smtClean="0"/>
              <a:t>9/24/26</a:t>
            </a:fld>
            <a:endParaRPr lang="en-US"/>
          </a:p>
        </p:txBody>
      </p:sp>
      <p:sp>
        <p:nvSpPr>
          <p:cNvPr id="6" name="Footer Placeholder 5">
            <a:extLst>
              <a:ext uri="{FF2B5EF4-FFF2-40B4-BE49-F238E27FC236}">
                <a16:creationId xmlns:a16="http://schemas.microsoft.com/office/drawing/2014/main" id="{85F977E8-D762-0494-3F4F-FFC976A918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FBE18C-1C39-1070-4AD1-4A56E6801D06}"/>
              </a:ext>
            </a:extLst>
          </p:cNvPr>
          <p:cNvSpPr>
            <a:spLocks noGrp="1"/>
          </p:cNvSpPr>
          <p:nvPr>
            <p:ph type="sldNum" sz="quarter" idx="12"/>
          </p:nvPr>
        </p:nvSpPr>
        <p:spPr/>
        <p:txBody>
          <a:bodyPr/>
          <a:lstStyle/>
          <a:p>
            <a:fld id="{7ED56B35-6A8E-814E-9975-00F09B6C6179}" type="slidenum">
              <a:rPr lang="en-US" smtClean="0"/>
              <a:t>‹#›</a:t>
            </a:fld>
            <a:endParaRPr lang="en-US"/>
          </a:p>
        </p:txBody>
      </p:sp>
    </p:spTree>
    <p:extLst>
      <p:ext uri="{BB962C8B-B14F-4D97-AF65-F5344CB8AC3E}">
        <p14:creationId xmlns:p14="http://schemas.microsoft.com/office/powerpoint/2010/main" val="1434198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6F9A7-81B6-FC7F-3EAF-FB35F8DF4F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6A34CD-1090-FA41-3A01-51CF15D30A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7A25BB-564C-5D78-05D4-DC5880F5E2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888E369-2AD6-A7B5-15C4-9891B60307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F5AC0E1-9E75-A300-A5AD-FA83267CD8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E908105-86D0-FD07-6795-DE986486CB10}"/>
              </a:ext>
            </a:extLst>
          </p:cNvPr>
          <p:cNvSpPr>
            <a:spLocks noGrp="1"/>
          </p:cNvSpPr>
          <p:nvPr>
            <p:ph type="dt" sz="half" idx="10"/>
          </p:nvPr>
        </p:nvSpPr>
        <p:spPr/>
        <p:txBody>
          <a:bodyPr/>
          <a:lstStyle/>
          <a:p>
            <a:fld id="{E11E209C-680E-8743-98E1-13CB44D35A65}" type="datetimeFigureOut">
              <a:rPr lang="en-US" smtClean="0"/>
              <a:t>9/24/26</a:t>
            </a:fld>
            <a:endParaRPr lang="en-US"/>
          </a:p>
        </p:txBody>
      </p:sp>
      <p:sp>
        <p:nvSpPr>
          <p:cNvPr id="8" name="Footer Placeholder 7">
            <a:extLst>
              <a:ext uri="{FF2B5EF4-FFF2-40B4-BE49-F238E27FC236}">
                <a16:creationId xmlns:a16="http://schemas.microsoft.com/office/drawing/2014/main" id="{78AC2EDE-7BD0-69F0-966C-8115FB2ECBE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4C5A137-CFE2-813D-BC85-CD1EAEDB6D9D}"/>
              </a:ext>
            </a:extLst>
          </p:cNvPr>
          <p:cNvSpPr>
            <a:spLocks noGrp="1"/>
          </p:cNvSpPr>
          <p:nvPr>
            <p:ph type="sldNum" sz="quarter" idx="12"/>
          </p:nvPr>
        </p:nvSpPr>
        <p:spPr/>
        <p:txBody>
          <a:bodyPr/>
          <a:lstStyle/>
          <a:p>
            <a:fld id="{7ED56B35-6A8E-814E-9975-00F09B6C6179}" type="slidenum">
              <a:rPr lang="en-US" smtClean="0"/>
              <a:t>‹#›</a:t>
            </a:fld>
            <a:endParaRPr lang="en-US"/>
          </a:p>
        </p:txBody>
      </p:sp>
    </p:spTree>
    <p:extLst>
      <p:ext uri="{BB962C8B-B14F-4D97-AF65-F5344CB8AC3E}">
        <p14:creationId xmlns:p14="http://schemas.microsoft.com/office/powerpoint/2010/main" val="1444413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AF464-7826-776A-4452-2DA364BCBDD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2212CE7-40DA-5443-62CD-0E5CE7B686E9}"/>
              </a:ext>
            </a:extLst>
          </p:cNvPr>
          <p:cNvSpPr>
            <a:spLocks noGrp="1"/>
          </p:cNvSpPr>
          <p:nvPr>
            <p:ph type="dt" sz="half" idx="10"/>
          </p:nvPr>
        </p:nvSpPr>
        <p:spPr/>
        <p:txBody>
          <a:bodyPr/>
          <a:lstStyle/>
          <a:p>
            <a:fld id="{E11E209C-680E-8743-98E1-13CB44D35A65}" type="datetimeFigureOut">
              <a:rPr lang="en-US" smtClean="0"/>
              <a:t>9/24/26</a:t>
            </a:fld>
            <a:endParaRPr lang="en-US"/>
          </a:p>
        </p:txBody>
      </p:sp>
      <p:sp>
        <p:nvSpPr>
          <p:cNvPr id="4" name="Footer Placeholder 3">
            <a:extLst>
              <a:ext uri="{FF2B5EF4-FFF2-40B4-BE49-F238E27FC236}">
                <a16:creationId xmlns:a16="http://schemas.microsoft.com/office/drawing/2014/main" id="{62EC220B-A877-82F1-749E-5AE3AF125EC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225ED1-F1F3-3A37-DDC3-F38E3409521D}"/>
              </a:ext>
            </a:extLst>
          </p:cNvPr>
          <p:cNvSpPr>
            <a:spLocks noGrp="1"/>
          </p:cNvSpPr>
          <p:nvPr>
            <p:ph type="sldNum" sz="quarter" idx="12"/>
          </p:nvPr>
        </p:nvSpPr>
        <p:spPr/>
        <p:txBody>
          <a:bodyPr/>
          <a:lstStyle/>
          <a:p>
            <a:fld id="{7ED56B35-6A8E-814E-9975-00F09B6C6179}" type="slidenum">
              <a:rPr lang="en-US" smtClean="0"/>
              <a:t>‹#›</a:t>
            </a:fld>
            <a:endParaRPr lang="en-US"/>
          </a:p>
        </p:txBody>
      </p:sp>
    </p:spTree>
    <p:extLst>
      <p:ext uri="{BB962C8B-B14F-4D97-AF65-F5344CB8AC3E}">
        <p14:creationId xmlns:p14="http://schemas.microsoft.com/office/powerpoint/2010/main" val="16222744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C546C9-E234-7CDF-A599-C884754C8DCB}"/>
              </a:ext>
            </a:extLst>
          </p:cNvPr>
          <p:cNvSpPr>
            <a:spLocks noGrp="1"/>
          </p:cNvSpPr>
          <p:nvPr>
            <p:ph type="dt" sz="half" idx="10"/>
          </p:nvPr>
        </p:nvSpPr>
        <p:spPr/>
        <p:txBody>
          <a:bodyPr/>
          <a:lstStyle/>
          <a:p>
            <a:fld id="{E11E209C-680E-8743-98E1-13CB44D35A65}" type="datetimeFigureOut">
              <a:rPr lang="en-US" smtClean="0"/>
              <a:t>9/24/26</a:t>
            </a:fld>
            <a:endParaRPr lang="en-US"/>
          </a:p>
        </p:txBody>
      </p:sp>
      <p:sp>
        <p:nvSpPr>
          <p:cNvPr id="3" name="Footer Placeholder 2">
            <a:extLst>
              <a:ext uri="{FF2B5EF4-FFF2-40B4-BE49-F238E27FC236}">
                <a16:creationId xmlns:a16="http://schemas.microsoft.com/office/drawing/2014/main" id="{BAC20B46-81CD-A0D1-E5EF-82A8350428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C0CA34C-9086-771E-5BF4-E1776748FEF9}"/>
              </a:ext>
            </a:extLst>
          </p:cNvPr>
          <p:cNvSpPr>
            <a:spLocks noGrp="1"/>
          </p:cNvSpPr>
          <p:nvPr>
            <p:ph type="sldNum" sz="quarter" idx="12"/>
          </p:nvPr>
        </p:nvSpPr>
        <p:spPr/>
        <p:txBody>
          <a:bodyPr/>
          <a:lstStyle/>
          <a:p>
            <a:fld id="{7ED56B35-6A8E-814E-9975-00F09B6C6179}" type="slidenum">
              <a:rPr lang="en-US" smtClean="0"/>
              <a:t>‹#›</a:t>
            </a:fld>
            <a:endParaRPr lang="en-US"/>
          </a:p>
        </p:txBody>
      </p:sp>
    </p:spTree>
    <p:extLst>
      <p:ext uri="{BB962C8B-B14F-4D97-AF65-F5344CB8AC3E}">
        <p14:creationId xmlns:p14="http://schemas.microsoft.com/office/powerpoint/2010/main" val="67625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1894B-B075-9F00-BF8E-B2D69498D0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AA012F5-8480-C68B-C494-F76510693A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868FD3-42BE-634D-9BD4-547DFCC9B9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7F0D38-BE16-6451-D34F-771FCB9B9F1E}"/>
              </a:ext>
            </a:extLst>
          </p:cNvPr>
          <p:cNvSpPr>
            <a:spLocks noGrp="1"/>
          </p:cNvSpPr>
          <p:nvPr>
            <p:ph type="dt" sz="half" idx="10"/>
          </p:nvPr>
        </p:nvSpPr>
        <p:spPr/>
        <p:txBody>
          <a:bodyPr/>
          <a:lstStyle/>
          <a:p>
            <a:fld id="{E11E209C-680E-8743-98E1-13CB44D35A65}" type="datetimeFigureOut">
              <a:rPr lang="en-US" smtClean="0"/>
              <a:t>9/24/26</a:t>
            </a:fld>
            <a:endParaRPr lang="en-US"/>
          </a:p>
        </p:txBody>
      </p:sp>
      <p:sp>
        <p:nvSpPr>
          <p:cNvPr id="6" name="Footer Placeholder 5">
            <a:extLst>
              <a:ext uri="{FF2B5EF4-FFF2-40B4-BE49-F238E27FC236}">
                <a16:creationId xmlns:a16="http://schemas.microsoft.com/office/drawing/2014/main" id="{773CD46E-95C4-BBC9-FF10-74B4286098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D0B203-58B0-2EB3-6581-9ED7EB7D5105}"/>
              </a:ext>
            </a:extLst>
          </p:cNvPr>
          <p:cNvSpPr>
            <a:spLocks noGrp="1"/>
          </p:cNvSpPr>
          <p:nvPr>
            <p:ph type="sldNum" sz="quarter" idx="12"/>
          </p:nvPr>
        </p:nvSpPr>
        <p:spPr/>
        <p:txBody>
          <a:bodyPr/>
          <a:lstStyle/>
          <a:p>
            <a:fld id="{7ED56B35-6A8E-814E-9975-00F09B6C6179}" type="slidenum">
              <a:rPr lang="en-US" smtClean="0"/>
              <a:t>‹#›</a:t>
            </a:fld>
            <a:endParaRPr lang="en-US"/>
          </a:p>
        </p:txBody>
      </p:sp>
    </p:spTree>
    <p:extLst>
      <p:ext uri="{BB962C8B-B14F-4D97-AF65-F5344CB8AC3E}">
        <p14:creationId xmlns:p14="http://schemas.microsoft.com/office/powerpoint/2010/main" val="3042928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236C1-C2D3-36CE-22C6-BC101F9604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8525CE4-E9A4-8BEF-3180-F26253F0A2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1952714-2A79-0F7F-B067-9DE9D78010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C1605B-8546-B776-304F-2B340BF05EA6}"/>
              </a:ext>
            </a:extLst>
          </p:cNvPr>
          <p:cNvSpPr>
            <a:spLocks noGrp="1"/>
          </p:cNvSpPr>
          <p:nvPr>
            <p:ph type="dt" sz="half" idx="10"/>
          </p:nvPr>
        </p:nvSpPr>
        <p:spPr/>
        <p:txBody>
          <a:bodyPr/>
          <a:lstStyle/>
          <a:p>
            <a:fld id="{E11E209C-680E-8743-98E1-13CB44D35A65}" type="datetimeFigureOut">
              <a:rPr lang="en-US" smtClean="0"/>
              <a:t>9/24/26</a:t>
            </a:fld>
            <a:endParaRPr lang="en-US"/>
          </a:p>
        </p:txBody>
      </p:sp>
      <p:sp>
        <p:nvSpPr>
          <p:cNvPr id="6" name="Footer Placeholder 5">
            <a:extLst>
              <a:ext uri="{FF2B5EF4-FFF2-40B4-BE49-F238E27FC236}">
                <a16:creationId xmlns:a16="http://schemas.microsoft.com/office/drawing/2014/main" id="{7DB2099D-DF85-10A3-04B3-EB41532AF3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4BE60C-BD04-9488-96E3-F0684D0BA25F}"/>
              </a:ext>
            </a:extLst>
          </p:cNvPr>
          <p:cNvSpPr>
            <a:spLocks noGrp="1"/>
          </p:cNvSpPr>
          <p:nvPr>
            <p:ph type="sldNum" sz="quarter" idx="12"/>
          </p:nvPr>
        </p:nvSpPr>
        <p:spPr/>
        <p:txBody>
          <a:bodyPr/>
          <a:lstStyle/>
          <a:p>
            <a:fld id="{7ED56B35-6A8E-814E-9975-00F09B6C6179}" type="slidenum">
              <a:rPr lang="en-US" smtClean="0"/>
              <a:t>‹#›</a:t>
            </a:fld>
            <a:endParaRPr lang="en-US"/>
          </a:p>
        </p:txBody>
      </p:sp>
    </p:spTree>
    <p:extLst>
      <p:ext uri="{BB962C8B-B14F-4D97-AF65-F5344CB8AC3E}">
        <p14:creationId xmlns:p14="http://schemas.microsoft.com/office/powerpoint/2010/main" val="3508554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02B21-5669-9EB1-5C34-E0F3E2CA79B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C630CA1-8343-E066-C5FF-86C5893BA9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824C38-03C6-C996-F9F7-7854ED76D924}"/>
              </a:ext>
            </a:extLst>
          </p:cNvPr>
          <p:cNvSpPr>
            <a:spLocks noGrp="1"/>
          </p:cNvSpPr>
          <p:nvPr>
            <p:ph type="dt" sz="half" idx="10"/>
          </p:nvPr>
        </p:nvSpPr>
        <p:spPr/>
        <p:txBody>
          <a:bodyPr/>
          <a:lstStyle/>
          <a:p>
            <a:fld id="{E11E209C-680E-8743-98E1-13CB44D35A65}" type="datetimeFigureOut">
              <a:rPr lang="en-US" smtClean="0"/>
              <a:t>9/24/26</a:t>
            </a:fld>
            <a:endParaRPr lang="en-US"/>
          </a:p>
        </p:txBody>
      </p:sp>
      <p:sp>
        <p:nvSpPr>
          <p:cNvPr id="5" name="Footer Placeholder 4">
            <a:extLst>
              <a:ext uri="{FF2B5EF4-FFF2-40B4-BE49-F238E27FC236}">
                <a16:creationId xmlns:a16="http://schemas.microsoft.com/office/drawing/2014/main" id="{C37555B0-CEE3-2433-A654-30DD40D8DF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D7009B-A479-79EC-0DC8-DB23EAECBA90}"/>
              </a:ext>
            </a:extLst>
          </p:cNvPr>
          <p:cNvSpPr>
            <a:spLocks noGrp="1"/>
          </p:cNvSpPr>
          <p:nvPr>
            <p:ph type="sldNum" sz="quarter" idx="12"/>
          </p:nvPr>
        </p:nvSpPr>
        <p:spPr/>
        <p:txBody>
          <a:bodyPr/>
          <a:lstStyle/>
          <a:p>
            <a:fld id="{7ED56B35-6A8E-814E-9975-00F09B6C6179}" type="slidenum">
              <a:rPr lang="en-US" smtClean="0"/>
              <a:t>‹#›</a:t>
            </a:fld>
            <a:endParaRPr lang="en-US"/>
          </a:p>
        </p:txBody>
      </p:sp>
    </p:spTree>
    <p:extLst>
      <p:ext uri="{BB962C8B-B14F-4D97-AF65-F5344CB8AC3E}">
        <p14:creationId xmlns:p14="http://schemas.microsoft.com/office/powerpoint/2010/main" val="4063696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21965B-77BB-C0DF-408D-2E77E1CFFF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65412B-C9D3-2637-F837-86301F4FBA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560B60-D18C-8D24-87C6-74D21DA19ABD}"/>
              </a:ext>
            </a:extLst>
          </p:cNvPr>
          <p:cNvSpPr>
            <a:spLocks noGrp="1"/>
          </p:cNvSpPr>
          <p:nvPr>
            <p:ph type="dt" sz="half" idx="10"/>
          </p:nvPr>
        </p:nvSpPr>
        <p:spPr/>
        <p:txBody>
          <a:bodyPr/>
          <a:lstStyle/>
          <a:p>
            <a:fld id="{E11E209C-680E-8743-98E1-13CB44D35A65}" type="datetimeFigureOut">
              <a:rPr lang="en-US" smtClean="0"/>
              <a:t>9/24/26</a:t>
            </a:fld>
            <a:endParaRPr lang="en-US"/>
          </a:p>
        </p:txBody>
      </p:sp>
      <p:sp>
        <p:nvSpPr>
          <p:cNvPr id="5" name="Footer Placeholder 4">
            <a:extLst>
              <a:ext uri="{FF2B5EF4-FFF2-40B4-BE49-F238E27FC236}">
                <a16:creationId xmlns:a16="http://schemas.microsoft.com/office/drawing/2014/main" id="{E35A9A06-F458-639B-90E5-48475908E3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DF4B04-3471-52E5-B7AD-D8C89BE7E97B}"/>
              </a:ext>
            </a:extLst>
          </p:cNvPr>
          <p:cNvSpPr>
            <a:spLocks noGrp="1"/>
          </p:cNvSpPr>
          <p:nvPr>
            <p:ph type="sldNum" sz="quarter" idx="12"/>
          </p:nvPr>
        </p:nvSpPr>
        <p:spPr/>
        <p:txBody>
          <a:bodyPr/>
          <a:lstStyle/>
          <a:p>
            <a:fld id="{7ED56B35-6A8E-814E-9975-00F09B6C6179}" type="slidenum">
              <a:rPr lang="en-US" smtClean="0"/>
              <a:t>‹#›</a:t>
            </a:fld>
            <a:endParaRPr lang="en-US"/>
          </a:p>
        </p:txBody>
      </p:sp>
    </p:spTree>
    <p:extLst>
      <p:ext uri="{BB962C8B-B14F-4D97-AF65-F5344CB8AC3E}">
        <p14:creationId xmlns:p14="http://schemas.microsoft.com/office/powerpoint/2010/main" val="1302065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757725-6802-00DF-E7E8-AD57032A10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59826ED-166B-9224-3DE9-8E634F734F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2EB986-F254-130A-6658-655F09863F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1E209C-680E-8743-98E1-13CB44D35A65}" type="datetimeFigureOut">
              <a:rPr lang="en-US" smtClean="0"/>
              <a:t>9/24/26</a:t>
            </a:fld>
            <a:endParaRPr lang="en-US"/>
          </a:p>
        </p:txBody>
      </p:sp>
      <p:sp>
        <p:nvSpPr>
          <p:cNvPr id="5" name="Footer Placeholder 4">
            <a:extLst>
              <a:ext uri="{FF2B5EF4-FFF2-40B4-BE49-F238E27FC236}">
                <a16:creationId xmlns:a16="http://schemas.microsoft.com/office/drawing/2014/main" id="{EDB5C05C-4E04-03FC-8FFE-892C8F6118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E530C27-0EF9-1503-0490-752ECD334D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ED56B35-6A8E-814E-9975-00F09B6C6179}" type="slidenum">
              <a:rPr lang="en-US" smtClean="0"/>
              <a:t>‹#›</a:t>
            </a:fld>
            <a:endParaRPr lang="en-US"/>
          </a:p>
        </p:txBody>
      </p:sp>
    </p:spTree>
    <p:extLst>
      <p:ext uri="{BB962C8B-B14F-4D97-AF65-F5344CB8AC3E}">
        <p14:creationId xmlns:p14="http://schemas.microsoft.com/office/powerpoint/2010/main" val="22478931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7F243-3B45-A9E8-81E0-50FCB975FD42}"/>
              </a:ext>
            </a:extLst>
          </p:cNvPr>
          <p:cNvSpPr>
            <a:spLocks noGrp="1"/>
          </p:cNvSpPr>
          <p:nvPr>
            <p:ph type="ctrTitle"/>
          </p:nvPr>
        </p:nvSpPr>
        <p:spPr/>
        <p:txBody>
          <a:bodyPr/>
          <a:lstStyle/>
          <a:p>
            <a:r>
              <a:rPr lang="en-US" dirty="0"/>
              <a:t>Project Update 1</a:t>
            </a:r>
          </a:p>
        </p:txBody>
      </p:sp>
      <p:sp>
        <p:nvSpPr>
          <p:cNvPr id="3" name="Subtitle 2">
            <a:extLst>
              <a:ext uri="{FF2B5EF4-FFF2-40B4-BE49-F238E27FC236}">
                <a16:creationId xmlns:a16="http://schemas.microsoft.com/office/drawing/2014/main" id="{1E6EEC12-3EFF-0171-108A-39D7D7939CAE}"/>
              </a:ext>
            </a:extLst>
          </p:cNvPr>
          <p:cNvSpPr>
            <a:spLocks noGrp="1"/>
          </p:cNvSpPr>
          <p:nvPr>
            <p:ph type="subTitle" idx="1"/>
          </p:nvPr>
        </p:nvSpPr>
        <p:spPr/>
        <p:txBody>
          <a:bodyPr/>
          <a:lstStyle/>
          <a:p>
            <a:r>
              <a:rPr lang="en-US" dirty="0"/>
              <a:t>Cricket Chirp Investigation</a:t>
            </a:r>
          </a:p>
        </p:txBody>
      </p:sp>
    </p:spTree>
    <p:extLst>
      <p:ext uri="{BB962C8B-B14F-4D97-AF65-F5344CB8AC3E}">
        <p14:creationId xmlns:p14="http://schemas.microsoft.com/office/powerpoint/2010/main" val="3821457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C38E-8953-1CEE-1483-46845335CDBD}"/>
              </a:ext>
            </a:extLst>
          </p:cNvPr>
          <p:cNvSpPr>
            <a:spLocks noGrp="1"/>
          </p:cNvSpPr>
          <p:nvPr>
            <p:ph type="title"/>
          </p:nvPr>
        </p:nvSpPr>
        <p:spPr/>
        <p:txBody>
          <a:bodyPr/>
          <a:lstStyle/>
          <a:p>
            <a:r>
              <a:rPr lang="en-US" dirty="0"/>
              <a:t>Original Time Domain</a:t>
            </a:r>
          </a:p>
        </p:txBody>
      </p:sp>
      <p:pic>
        <p:nvPicPr>
          <p:cNvPr id="5" name="Content Placeholder 4">
            <a:extLst>
              <a:ext uri="{FF2B5EF4-FFF2-40B4-BE49-F238E27FC236}">
                <a16:creationId xmlns:a16="http://schemas.microsoft.com/office/drawing/2014/main" id="{3E63FA63-3E0F-4358-6F71-A3E2527692EF}"/>
              </a:ext>
            </a:extLst>
          </p:cNvPr>
          <p:cNvPicPr>
            <a:picLocks noGrp="1" noChangeAspect="1"/>
          </p:cNvPicPr>
          <p:nvPr>
            <p:ph idx="1"/>
          </p:nvPr>
        </p:nvPicPr>
        <p:blipFill>
          <a:blip r:embed="rId2"/>
          <a:stretch>
            <a:fillRect/>
          </a:stretch>
        </p:blipFill>
        <p:spPr>
          <a:xfrm>
            <a:off x="5552016" y="1690688"/>
            <a:ext cx="5801784" cy="4351338"/>
          </a:xfrm>
        </p:spPr>
      </p:pic>
      <p:sp>
        <p:nvSpPr>
          <p:cNvPr id="6" name="TextBox 5">
            <a:extLst>
              <a:ext uri="{FF2B5EF4-FFF2-40B4-BE49-F238E27FC236}">
                <a16:creationId xmlns:a16="http://schemas.microsoft.com/office/drawing/2014/main" id="{74A15863-6A07-852A-10DF-F0529FAD87C0}"/>
              </a:ext>
            </a:extLst>
          </p:cNvPr>
          <p:cNvSpPr txBox="1"/>
          <p:nvPr/>
        </p:nvSpPr>
        <p:spPr>
          <a:xfrm>
            <a:off x="726990" y="2090172"/>
            <a:ext cx="4685270" cy="2677656"/>
          </a:xfrm>
          <a:prstGeom prst="rect">
            <a:avLst/>
          </a:prstGeom>
          <a:noFill/>
        </p:spPr>
        <p:txBody>
          <a:bodyPr wrap="square" rtlCol="0">
            <a:spAutoFit/>
          </a:bodyPr>
          <a:lstStyle/>
          <a:p>
            <a:r>
              <a:rPr lang="en-US" sz="2400" dirty="0"/>
              <a:t>The time domain plot is counter intuitive. The signal power seems to be drowned out by noise and is difficult to see. Despite how distinct the audio comes through while listening, filtering is required to find the signal</a:t>
            </a:r>
          </a:p>
        </p:txBody>
      </p:sp>
    </p:spTree>
    <p:extLst>
      <p:ext uri="{BB962C8B-B14F-4D97-AF65-F5344CB8AC3E}">
        <p14:creationId xmlns:p14="http://schemas.microsoft.com/office/powerpoint/2010/main" val="523071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2D54B-60B0-0AB0-7605-D84138E1F0FA}"/>
              </a:ext>
            </a:extLst>
          </p:cNvPr>
          <p:cNvSpPr>
            <a:spLocks noGrp="1"/>
          </p:cNvSpPr>
          <p:nvPr>
            <p:ph type="title"/>
          </p:nvPr>
        </p:nvSpPr>
        <p:spPr/>
        <p:txBody>
          <a:bodyPr/>
          <a:lstStyle/>
          <a:p>
            <a:r>
              <a:rPr lang="en-US" dirty="0"/>
              <a:t>Magnitude Spectrogram (Linear Amplitude)</a:t>
            </a:r>
          </a:p>
        </p:txBody>
      </p:sp>
      <p:pic>
        <p:nvPicPr>
          <p:cNvPr id="9" name="Content Placeholder 8">
            <a:extLst>
              <a:ext uri="{FF2B5EF4-FFF2-40B4-BE49-F238E27FC236}">
                <a16:creationId xmlns:a16="http://schemas.microsoft.com/office/drawing/2014/main" id="{6AA515CE-3F81-6F64-660E-B6D7ABA40845}"/>
              </a:ext>
            </a:extLst>
          </p:cNvPr>
          <p:cNvPicPr>
            <a:picLocks noGrp="1" noChangeAspect="1"/>
          </p:cNvPicPr>
          <p:nvPr>
            <p:ph idx="1"/>
          </p:nvPr>
        </p:nvPicPr>
        <p:blipFill>
          <a:blip r:embed="rId2"/>
          <a:stretch>
            <a:fillRect/>
          </a:stretch>
        </p:blipFill>
        <p:spPr>
          <a:xfrm>
            <a:off x="5552016" y="1690688"/>
            <a:ext cx="5801784" cy="4351338"/>
          </a:xfrm>
        </p:spPr>
      </p:pic>
      <p:sp>
        <p:nvSpPr>
          <p:cNvPr id="10" name="TextBox 9">
            <a:extLst>
              <a:ext uri="{FF2B5EF4-FFF2-40B4-BE49-F238E27FC236}">
                <a16:creationId xmlns:a16="http://schemas.microsoft.com/office/drawing/2014/main" id="{E29E560F-CE09-8AEB-0283-AB361335783B}"/>
              </a:ext>
            </a:extLst>
          </p:cNvPr>
          <p:cNvSpPr txBox="1"/>
          <p:nvPr/>
        </p:nvSpPr>
        <p:spPr>
          <a:xfrm>
            <a:off x="838200" y="1752728"/>
            <a:ext cx="4170528" cy="1631216"/>
          </a:xfrm>
          <a:prstGeom prst="rect">
            <a:avLst/>
          </a:prstGeom>
          <a:noFill/>
        </p:spPr>
        <p:txBody>
          <a:bodyPr wrap="square" rtlCol="0">
            <a:spAutoFit/>
          </a:bodyPr>
          <a:lstStyle/>
          <a:p>
            <a:r>
              <a:rPr lang="en-US" sz="2000" dirty="0"/>
              <a:t>There are distinct peaks in the audio. There appears to be a main signal and additional harmonics. Source of these harmonics is not yet determined. </a:t>
            </a:r>
          </a:p>
        </p:txBody>
      </p:sp>
      <p:sp>
        <p:nvSpPr>
          <p:cNvPr id="11" name="TextBox 10">
            <a:extLst>
              <a:ext uri="{FF2B5EF4-FFF2-40B4-BE49-F238E27FC236}">
                <a16:creationId xmlns:a16="http://schemas.microsoft.com/office/drawing/2014/main" id="{D9C62F8D-4B81-E00E-CBA9-65D73B019A68}"/>
              </a:ext>
            </a:extLst>
          </p:cNvPr>
          <p:cNvSpPr txBox="1"/>
          <p:nvPr/>
        </p:nvSpPr>
        <p:spPr>
          <a:xfrm>
            <a:off x="4053385" y="4694830"/>
            <a:ext cx="1364776" cy="369332"/>
          </a:xfrm>
          <a:prstGeom prst="rect">
            <a:avLst/>
          </a:prstGeom>
          <a:noFill/>
        </p:spPr>
        <p:txBody>
          <a:bodyPr wrap="square" rtlCol="0">
            <a:spAutoFit/>
          </a:bodyPr>
          <a:lstStyle/>
          <a:p>
            <a:r>
              <a:rPr lang="en-US" dirty="0"/>
              <a:t>Main Signal</a:t>
            </a:r>
          </a:p>
        </p:txBody>
      </p:sp>
      <p:cxnSp>
        <p:nvCxnSpPr>
          <p:cNvPr id="13" name="Straight Arrow Connector 12">
            <a:extLst>
              <a:ext uri="{FF2B5EF4-FFF2-40B4-BE49-F238E27FC236}">
                <a16:creationId xmlns:a16="http://schemas.microsoft.com/office/drawing/2014/main" id="{3FCC2856-AB71-DF3B-47F8-66CC07BCA304}"/>
              </a:ext>
            </a:extLst>
          </p:cNvPr>
          <p:cNvCxnSpPr>
            <a:stCxn id="11" idx="3"/>
          </p:cNvCxnSpPr>
          <p:nvPr/>
        </p:nvCxnSpPr>
        <p:spPr>
          <a:xfrm>
            <a:off x="5418161" y="4879496"/>
            <a:ext cx="1514902" cy="4734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47E62839-0891-08A5-3CB5-9DCBEC22A94A}"/>
              </a:ext>
            </a:extLst>
          </p:cNvPr>
          <p:cNvSpPr txBox="1"/>
          <p:nvPr/>
        </p:nvSpPr>
        <p:spPr>
          <a:xfrm>
            <a:off x="3466531" y="4007674"/>
            <a:ext cx="2006221" cy="369332"/>
          </a:xfrm>
          <a:prstGeom prst="rect">
            <a:avLst/>
          </a:prstGeom>
          <a:noFill/>
        </p:spPr>
        <p:txBody>
          <a:bodyPr wrap="square" rtlCol="0">
            <a:spAutoFit/>
          </a:bodyPr>
          <a:lstStyle/>
          <a:p>
            <a:r>
              <a:rPr lang="en-US" dirty="0"/>
              <a:t>Second Harmonic</a:t>
            </a:r>
          </a:p>
        </p:txBody>
      </p:sp>
      <p:cxnSp>
        <p:nvCxnSpPr>
          <p:cNvPr id="15" name="Straight Arrow Connector 14">
            <a:extLst>
              <a:ext uri="{FF2B5EF4-FFF2-40B4-BE49-F238E27FC236}">
                <a16:creationId xmlns:a16="http://schemas.microsoft.com/office/drawing/2014/main" id="{7CC8B7EE-1CA8-3A32-4B51-6A367F64C5FB}"/>
              </a:ext>
            </a:extLst>
          </p:cNvPr>
          <p:cNvCxnSpPr>
            <a:cxnSpLocks/>
            <a:stCxn id="14" idx="3"/>
          </p:cNvCxnSpPr>
          <p:nvPr/>
        </p:nvCxnSpPr>
        <p:spPr>
          <a:xfrm>
            <a:off x="5472752" y="4192340"/>
            <a:ext cx="1514902" cy="4734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5147F0C5-E3BD-BE5F-737D-A225263C5FEE}"/>
              </a:ext>
            </a:extLst>
          </p:cNvPr>
          <p:cNvSpPr txBox="1"/>
          <p:nvPr/>
        </p:nvSpPr>
        <p:spPr>
          <a:xfrm>
            <a:off x="3602661" y="3329595"/>
            <a:ext cx="2006221" cy="369332"/>
          </a:xfrm>
          <a:prstGeom prst="rect">
            <a:avLst/>
          </a:prstGeom>
          <a:noFill/>
        </p:spPr>
        <p:txBody>
          <a:bodyPr wrap="square" rtlCol="0">
            <a:spAutoFit/>
          </a:bodyPr>
          <a:lstStyle/>
          <a:p>
            <a:r>
              <a:rPr lang="en-US" dirty="0"/>
              <a:t>Third Harmonic</a:t>
            </a:r>
          </a:p>
        </p:txBody>
      </p:sp>
      <p:cxnSp>
        <p:nvCxnSpPr>
          <p:cNvPr id="19" name="Straight Arrow Connector 18">
            <a:extLst>
              <a:ext uri="{FF2B5EF4-FFF2-40B4-BE49-F238E27FC236}">
                <a16:creationId xmlns:a16="http://schemas.microsoft.com/office/drawing/2014/main" id="{1BDE4A44-278F-AAA2-B82F-F8FD93EEBB24}"/>
              </a:ext>
            </a:extLst>
          </p:cNvPr>
          <p:cNvCxnSpPr>
            <a:cxnSpLocks/>
          </p:cNvCxnSpPr>
          <p:nvPr/>
        </p:nvCxnSpPr>
        <p:spPr>
          <a:xfrm>
            <a:off x="5552016" y="3528857"/>
            <a:ext cx="1514902" cy="4734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12392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493FE-35E2-B18D-03D1-0211DAF643E4}"/>
              </a:ext>
            </a:extLst>
          </p:cNvPr>
          <p:cNvSpPr>
            <a:spLocks noGrp="1"/>
          </p:cNvSpPr>
          <p:nvPr>
            <p:ph type="title"/>
          </p:nvPr>
        </p:nvSpPr>
        <p:spPr/>
        <p:txBody>
          <a:bodyPr/>
          <a:lstStyle/>
          <a:p>
            <a:r>
              <a:rPr lang="en-US" dirty="0"/>
              <a:t>Power Spectrogram (dB)</a:t>
            </a:r>
          </a:p>
        </p:txBody>
      </p:sp>
      <p:pic>
        <p:nvPicPr>
          <p:cNvPr id="13" name="Content Placeholder 12">
            <a:extLst>
              <a:ext uri="{FF2B5EF4-FFF2-40B4-BE49-F238E27FC236}">
                <a16:creationId xmlns:a16="http://schemas.microsoft.com/office/drawing/2014/main" id="{09ACCF28-755E-FEDE-50A8-08357314DA03}"/>
              </a:ext>
            </a:extLst>
          </p:cNvPr>
          <p:cNvPicPr>
            <a:picLocks noGrp="1" noChangeAspect="1"/>
          </p:cNvPicPr>
          <p:nvPr>
            <p:ph idx="1"/>
          </p:nvPr>
        </p:nvPicPr>
        <p:blipFill>
          <a:blip r:embed="rId2"/>
          <a:stretch>
            <a:fillRect/>
          </a:stretch>
        </p:blipFill>
        <p:spPr>
          <a:xfrm>
            <a:off x="5552016" y="1690688"/>
            <a:ext cx="5801784" cy="4351338"/>
          </a:xfrm>
        </p:spPr>
      </p:pic>
      <p:sp>
        <p:nvSpPr>
          <p:cNvPr id="14" name="TextBox 13">
            <a:extLst>
              <a:ext uri="{FF2B5EF4-FFF2-40B4-BE49-F238E27FC236}">
                <a16:creationId xmlns:a16="http://schemas.microsoft.com/office/drawing/2014/main" id="{DC4A382A-7018-D8E8-9A01-70B6AAF70B05}"/>
              </a:ext>
            </a:extLst>
          </p:cNvPr>
          <p:cNvSpPr txBox="1"/>
          <p:nvPr/>
        </p:nvSpPr>
        <p:spPr>
          <a:xfrm>
            <a:off x="838200" y="2065525"/>
            <a:ext cx="4170528" cy="2862322"/>
          </a:xfrm>
          <a:prstGeom prst="rect">
            <a:avLst/>
          </a:prstGeom>
          <a:noFill/>
        </p:spPr>
        <p:txBody>
          <a:bodyPr wrap="square" rtlCol="0">
            <a:spAutoFit/>
          </a:bodyPr>
          <a:lstStyle/>
          <a:p>
            <a:r>
              <a:rPr lang="en-US" dirty="0"/>
              <a:t>When plotted in dBs, the signal can be seen to span the entire instantaneous bandwidth of the microphone. </a:t>
            </a:r>
          </a:p>
          <a:p>
            <a:endParaRPr lang="en-US" dirty="0"/>
          </a:p>
          <a:p>
            <a:r>
              <a:rPr lang="en-US" dirty="0"/>
              <a:t>When I filtered for each portion, only the main harmonic sounds like a real cricket chirp. Experiments need to be run to determine which section of this spectrum is actually important for crickets.</a:t>
            </a:r>
          </a:p>
        </p:txBody>
      </p:sp>
    </p:spTree>
    <p:extLst>
      <p:ext uri="{BB962C8B-B14F-4D97-AF65-F5344CB8AC3E}">
        <p14:creationId xmlns:p14="http://schemas.microsoft.com/office/powerpoint/2010/main" val="3025569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14C0D-6CCB-3DDE-E6B0-A0AB9ED7EA93}"/>
              </a:ext>
            </a:extLst>
          </p:cNvPr>
          <p:cNvSpPr>
            <a:spLocks noGrp="1"/>
          </p:cNvSpPr>
          <p:nvPr>
            <p:ph type="title"/>
          </p:nvPr>
        </p:nvSpPr>
        <p:spPr/>
        <p:txBody>
          <a:bodyPr/>
          <a:lstStyle/>
          <a:p>
            <a:r>
              <a:rPr lang="en-US" dirty="0"/>
              <a:t>Filtering Approach</a:t>
            </a:r>
          </a:p>
        </p:txBody>
      </p:sp>
      <p:sp>
        <p:nvSpPr>
          <p:cNvPr id="3" name="Content Placeholder 2">
            <a:extLst>
              <a:ext uri="{FF2B5EF4-FFF2-40B4-BE49-F238E27FC236}">
                <a16:creationId xmlns:a16="http://schemas.microsoft.com/office/drawing/2014/main" id="{0DC8816E-2A6F-5949-3F85-32CDC3D846C0}"/>
              </a:ext>
            </a:extLst>
          </p:cNvPr>
          <p:cNvSpPr>
            <a:spLocks noGrp="1"/>
          </p:cNvSpPr>
          <p:nvPr>
            <p:ph idx="1"/>
          </p:nvPr>
        </p:nvSpPr>
        <p:spPr>
          <a:xfrm>
            <a:off x="838200" y="1825625"/>
            <a:ext cx="5699078" cy="4351338"/>
          </a:xfrm>
        </p:spPr>
        <p:txBody>
          <a:bodyPr>
            <a:normAutofit fontScale="85000" lnSpcReduction="10000"/>
          </a:bodyPr>
          <a:lstStyle/>
          <a:p>
            <a:r>
              <a:rPr lang="en-US" dirty="0"/>
              <a:t>Without knowing the true cause of the wideband nature of the signal, the assumption is made that the information is useful. This is very likely true as non-linear product energy is “stolen” from the main signal. Therefore, including it should “return” the energy to that emitted by the cricket. </a:t>
            </a:r>
          </a:p>
          <a:p>
            <a:r>
              <a:rPr lang="en-US" dirty="0"/>
              <a:t>The process for isolating the signal is now to channelize the entire frequency band (&gt;2kHz) into 1kHz bands. These bands are then combined incoherently to form a well shaped pulse pattern.</a:t>
            </a:r>
          </a:p>
        </p:txBody>
      </p:sp>
      <p:sp>
        <p:nvSpPr>
          <p:cNvPr id="5" name="Rectangle 4">
            <a:extLst>
              <a:ext uri="{FF2B5EF4-FFF2-40B4-BE49-F238E27FC236}">
                <a16:creationId xmlns:a16="http://schemas.microsoft.com/office/drawing/2014/main" id="{6A9DCC04-8C9D-AB88-123D-A073DA6954B4}"/>
              </a:ext>
            </a:extLst>
          </p:cNvPr>
          <p:cNvSpPr/>
          <p:nvPr/>
        </p:nvSpPr>
        <p:spPr>
          <a:xfrm>
            <a:off x="8161361" y="1690688"/>
            <a:ext cx="204717" cy="820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96DFF66-E9C0-457A-EF36-E80D8A0A0A7E}"/>
              </a:ext>
            </a:extLst>
          </p:cNvPr>
          <p:cNvSpPr/>
          <p:nvPr/>
        </p:nvSpPr>
        <p:spPr>
          <a:xfrm>
            <a:off x="8366078" y="1690688"/>
            <a:ext cx="204717" cy="820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A4A4400-0C30-CE99-1BC9-84CE9E15F946}"/>
              </a:ext>
            </a:extLst>
          </p:cNvPr>
          <p:cNvSpPr/>
          <p:nvPr/>
        </p:nvSpPr>
        <p:spPr>
          <a:xfrm>
            <a:off x="8570795" y="1690688"/>
            <a:ext cx="204717" cy="820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C44935E-1A2B-98ED-221F-7786CF671A0D}"/>
              </a:ext>
            </a:extLst>
          </p:cNvPr>
          <p:cNvSpPr/>
          <p:nvPr/>
        </p:nvSpPr>
        <p:spPr>
          <a:xfrm>
            <a:off x="9214513" y="1690688"/>
            <a:ext cx="204717" cy="820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0B46750-A4A4-3CA3-9CD7-4E255C57BC9C}"/>
              </a:ext>
            </a:extLst>
          </p:cNvPr>
          <p:cNvSpPr/>
          <p:nvPr/>
        </p:nvSpPr>
        <p:spPr>
          <a:xfrm>
            <a:off x="9419230" y="1690688"/>
            <a:ext cx="204717" cy="820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990F190-0CDA-9E0D-15AA-97C9900C241E}"/>
              </a:ext>
            </a:extLst>
          </p:cNvPr>
          <p:cNvSpPr txBox="1"/>
          <p:nvPr/>
        </p:nvSpPr>
        <p:spPr>
          <a:xfrm>
            <a:off x="8821001" y="1916272"/>
            <a:ext cx="475399" cy="369332"/>
          </a:xfrm>
          <a:prstGeom prst="rect">
            <a:avLst/>
          </a:prstGeom>
          <a:noFill/>
        </p:spPr>
        <p:txBody>
          <a:bodyPr wrap="square" rtlCol="0">
            <a:spAutoFit/>
          </a:bodyPr>
          <a:lstStyle/>
          <a:p>
            <a:r>
              <a:rPr lang="en-US" dirty="0"/>
              <a:t>…</a:t>
            </a:r>
          </a:p>
        </p:txBody>
      </p:sp>
      <p:sp>
        <p:nvSpPr>
          <p:cNvPr id="11" name="Right Brace 10">
            <a:extLst>
              <a:ext uri="{FF2B5EF4-FFF2-40B4-BE49-F238E27FC236}">
                <a16:creationId xmlns:a16="http://schemas.microsoft.com/office/drawing/2014/main" id="{13E90406-BBB6-5809-E296-18F10179CF09}"/>
              </a:ext>
            </a:extLst>
          </p:cNvPr>
          <p:cNvSpPr/>
          <p:nvPr/>
        </p:nvSpPr>
        <p:spPr>
          <a:xfrm rot="16200000">
            <a:off x="8178219" y="1480491"/>
            <a:ext cx="163773" cy="256620"/>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8DB5D690-63D0-9DA8-57F1-0516CFC21B7E}"/>
              </a:ext>
            </a:extLst>
          </p:cNvPr>
          <p:cNvSpPr txBox="1"/>
          <p:nvPr/>
        </p:nvSpPr>
        <p:spPr>
          <a:xfrm>
            <a:off x="7915701" y="1204159"/>
            <a:ext cx="859811" cy="369332"/>
          </a:xfrm>
          <a:prstGeom prst="rect">
            <a:avLst/>
          </a:prstGeom>
          <a:noFill/>
        </p:spPr>
        <p:txBody>
          <a:bodyPr wrap="square" rtlCol="0">
            <a:spAutoFit/>
          </a:bodyPr>
          <a:lstStyle/>
          <a:p>
            <a:r>
              <a:rPr lang="en-US" dirty="0"/>
              <a:t>1kHz</a:t>
            </a:r>
          </a:p>
        </p:txBody>
      </p:sp>
      <p:sp>
        <p:nvSpPr>
          <p:cNvPr id="13" name="Right Brace 12">
            <a:extLst>
              <a:ext uri="{FF2B5EF4-FFF2-40B4-BE49-F238E27FC236}">
                <a16:creationId xmlns:a16="http://schemas.microsoft.com/office/drawing/2014/main" id="{16562CB2-F650-24FD-99DA-7A4E8D065205}"/>
              </a:ext>
            </a:extLst>
          </p:cNvPr>
          <p:cNvSpPr/>
          <p:nvPr/>
        </p:nvSpPr>
        <p:spPr>
          <a:xfrm rot="16200000">
            <a:off x="8781469" y="361677"/>
            <a:ext cx="222371" cy="1462587"/>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C1A1D09D-B6B3-9B2B-5B88-930EA57EE0B6}"/>
              </a:ext>
            </a:extLst>
          </p:cNvPr>
          <p:cNvSpPr txBox="1"/>
          <p:nvPr/>
        </p:nvSpPr>
        <p:spPr>
          <a:xfrm>
            <a:off x="8293290" y="381575"/>
            <a:ext cx="1901588" cy="646331"/>
          </a:xfrm>
          <a:prstGeom prst="rect">
            <a:avLst/>
          </a:prstGeom>
          <a:noFill/>
        </p:spPr>
        <p:txBody>
          <a:bodyPr wrap="square" rtlCol="0">
            <a:spAutoFit/>
          </a:bodyPr>
          <a:lstStyle/>
          <a:p>
            <a:r>
              <a:rPr lang="en-US" dirty="0"/>
              <a:t>Full signal bandwidth</a:t>
            </a:r>
          </a:p>
        </p:txBody>
      </p:sp>
      <p:cxnSp>
        <p:nvCxnSpPr>
          <p:cNvPr id="17" name="Straight Arrow Connector 16">
            <a:extLst>
              <a:ext uri="{FF2B5EF4-FFF2-40B4-BE49-F238E27FC236}">
                <a16:creationId xmlns:a16="http://schemas.microsoft.com/office/drawing/2014/main" id="{EFF5AAAB-63D0-4620-4F0E-14A955DB2CAE}"/>
              </a:ext>
            </a:extLst>
          </p:cNvPr>
          <p:cNvCxnSpPr>
            <a:stCxn id="5" idx="2"/>
          </p:cNvCxnSpPr>
          <p:nvPr/>
        </p:nvCxnSpPr>
        <p:spPr>
          <a:xfrm flipH="1">
            <a:off x="8260105" y="2511188"/>
            <a:ext cx="3615" cy="35484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9" name="Left Brace 18">
            <a:extLst>
              <a:ext uri="{FF2B5EF4-FFF2-40B4-BE49-F238E27FC236}">
                <a16:creationId xmlns:a16="http://schemas.microsoft.com/office/drawing/2014/main" id="{D1690318-F97C-4B66-25B2-A876BABC4D42}"/>
              </a:ext>
            </a:extLst>
          </p:cNvPr>
          <p:cNvSpPr/>
          <p:nvPr/>
        </p:nvSpPr>
        <p:spPr>
          <a:xfrm>
            <a:off x="7697337" y="1690688"/>
            <a:ext cx="218364" cy="820500"/>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20" name="TextBox 19">
            <a:extLst>
              <a:ext uri="{FF2B5EF4-FFF2-40B4-BE49-F238E27FC236}">
                <a16:creationId xmlns:a16="http://schemas.microsoft.com/office/drawing/2014/main" id="{6B576335-D859-0F2B-5FE9-D08D10EB031C}"/>
              </a:ext>
            </a:extLst>
          </p:cNvPr>
          <p:cNvSpPr txBox="1"/>
          <p:nvPr/>
        </p:nvSpPr>
        <p:spPr>
          <a:xfrm rot="16200000">
            <a:off x="6979591" y="1916272"/>
            <a:ext cx="820500" cy="369332"/>
          </a:xfrm>
          <a:prstGeom prst="rect">
            <a:avLst/>
          </a:prstGeom>
          <a:noFill/>
        </p:spPr>
        <p:txBody>
          <a:bodyPr wrap="square" rtlCol="0">
            <a:spAutoFit/>
          </a:bodyPr>
          <a:lstStyle/>
          <a:p>
            <a:r>
              <a:rPr lang="en-US" dirty="0"/>
              <a:t>Time</a:t>
            </a:r>
          </a:p>
        </p:txBody>
      </p:sp>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E7150FF5-5AB0-0C6C-E1BC-665455DD4D78}"/>
                  </a:ext>
                </a:extLst>
              </p:cNvPr>
              <p:cNvSpPr txBox="1"/>
              <p:nvPr/>
            </p:nvSpPr>
            <p:spPr>
              <a:xfrm>
                <a:off x="7966499" y="2866030"/>
                <a:ext cx="394210" cy="18710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Sup>
                        <m:sSubSupPr>
                          <m:ctrlPr>
                            <a:rPr lang="en-US" sz="1200" b="0" i="1" smtClean="0">
                              <a:latin typeface="Cambria Math" panose="02040503050406030204" pitchFamily="18" charset="0"/>
                            </a:rPr>
                          </m:ctrlPr>
                        </m:sSubSupPr>
                        <m:e>
                          <m:r>
                            <a:rPr lang="en-US" sz="1200" b="0" i="1" smtClean="0">
                              <a:latin typeface="Cambria Math" panose="02040503050406030204" pitchFamily="18" charset="0"/>
                            </a:rPr>
                            <m:t>𝑥</m:t>
                          </m:r>
                        </m:e>
                        <m:sub>
                          <m:r>
                            <a:rPr lang="en-US" sz="1200" b="0" i="1" smtClean="0">
                              <a:latin typeface="Cambria Math" panose="02040503050406030204" pitchFamily="18" charset="0"/>
                            </a:rPr>
                            <m:t>1</m:t>
                          </m:r>
                        </m:sub>
                        <m:sup>
                          <m:r>
                            <a:rPr lang="en-US" sz="1200" b="0" i="1" smtClean="0">
                              <a:latin typeface="Cambria Math" panose="02040503050406030204" pitchFamily="18" charset="0"/>
                            </a:rPr>
                            <m:t>2</m:t>
                          </m:r>
                        </m:sup>
                      </m:sSubSup>
                      <m:r>
                        <a:rPr lang="en-US" sz="1200" b="0" i="1" smtClean="0">
                          <a:latin typeface="Cambria Math" panose="02040503050406030204" pitchFamily="18" charset="0"/>
                        </a:rPr>
                        <m:t>[</m:t>
                      </m:r>
                      <m:r>
                        <a:rPr lang="en-US" sz="1200" b="0" i="1" smtClean="0">
                          <a:latin typeface="Cambria Math" panose="02040503050406030204" pitchFamily="18" charset="0"/>
                        </a:rPr>
                        <m:t>𝑛</m:t>
                      </m:r>
                      <m:r>
                        <a:rPr lang="en-US" sz="1200" b="0" i="1" smtClean="0">
                          <a:latin typeface="Cambria Math" panose="02040503050406030204" pitchFamily="18" charset="0"/>
                        </a:rPr>
                        <m:t>]</m:t>
                      </m:r>
                    </m:oMath>
                  </m:oMathPara>
                </a14:m>
                <a:endParaRPr lang="en-US" sz="1200" dirty="0"/>
              </a:p>
            </p:txBody>
          </p:sp>
        </mc:Choice>
        <mc:Fallback>
          <p:sp>
            <p:nvSpPr>
              <p:cNvPr id="21" name="TextBox 20">
                <a:extLst>
                  <a:ext uri="{FF2B5EF4-FFF2-40B4-BE49-F238E27FC236}">
                    <a16:creationId xmlns:a16="http://schemas.microsoft.com/office/drawing/2014/main" id="{E7150FF5-5AB0-0C6C-E1BC-665455DD4D78}"/>
                  </a:ext>
                </a:extLst>
              </p:cNvPr>
              <p:cNvSpPr txBox="1">
                <a:spLocks noRot="1" noChangeAspect="1" noMove="1" noResize="1" noEditPoints="1" noAdjustHandles="1" noChangeArrowheads="1" noChangeShapeType="1" noTextEdit="1"/>
              </p:cNvSpPr>
              <p:nvPr/>
            </p:nvSpPr>
            <p:spPr>
              <a:xfrm>
                <a:off x="7966499" y="2866030"/>
                <a:ext cx="394210" cy="187103"/>
              </a:xfrm>
              <a:prstGeom prst="rect">
                <a:avLst/>
              </a:prstGeom>
              <a:blipFill>
                <a:blip r:embed="rId2"/>
                <a:stretch>
                  <a:fillRect l="-6250" t="-6250" r="-12500" b="-3125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801E0344-E5C2-09CA-A011-67CC29157016}"/>
                  </a:ext>
                </a:extLst>
              </p:cNvPr>
              <p:cNvSpPr txBox="1"/>
              <p:nvPr/>
            </p:nvSpPr>
            <p:spPr>
              <a:xfrm>
                <a:off x="8390631" y="2877640"/>
                <a:ext cx="394210" cy="18729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Sup>
                        <m:sSubSupPr>
                          <m:ctrlPr>
                            <a:rPr lang="en-US" sz="1200" b="0" i="1" smtClean="0">
                              <a:latin typeface="Cambria Math" panose="02040503050406030204" pitchFamily="18" charset="0"/>
                            </a:rPr>
                          </m:ctrlPr>
                        </m:sSubSupPr>
                        <m:e>
                          <m:r>
                            <a:rPr lang="en-US" sz="1200" b="0" i="1" smtClean="0">
                              <a:latin typeface="Cambria Math" panose="02040503050406030204" pitchFamily="18" charset="0"/>
                            </a:rPr>
                            <m:t>𝑥</m:t>
                          </m:r>
                        </m:e>
                        <m:sub>
                          <m:r>
                            <a:rPr lang="en-US" sz="1200" b="0" i="1" smtClean="0">
                              <a:latin typeface="Cambria Math" panose="02040503050406030204" pitchFamily="18" charset="0"/>
                            </a:rPr>
                            <m:t>2</m:t>
                          </m:r>
                        </m:sub>
                        <m:sup>
                          <m:r>
                            <a:rPr lang="en-US" sz="1200" b="0" i="1" smtClean="0">
                              <a:latin typeface="Cambria Math" panose="02040503050406030204" pitchFamily="18" charset="0"/>
                            </a:rPr>
                            <m:t>2</m:t>
                          </m:r>
                        </m:sup>
                      </m:sSubSup>
                      <m:r>
                        <a:rPr lang="en-US" sz="1200" b="0" i="1" smtClean="0">
                          <a:latin typeface="Cambria Math" panose="02040503050406030204" pitchFamily="18" charset="0"/>
                        </a:rPr>
                        <m:t>[</m:t>
                      </m:r>
                      <m:r>
                        <a:rPr lang="en-US" sz="1200" b="0" i="1" smtClean="0">
                          <a:latin typeface="Cambria Math" panose="02040503050406030204" pitchFamily="18" charset="0"/>
                        </a:rPr>
                        <m:t>𝑛</m:t>
                      </m:r>
                      <m:r>
                        <a:rPr lang="en-US" sz="1200" b="0" i="1" smtClean="0">
                          <a:latin typeface="Cambria Math" panose="02040503050406030204" pitchFamily="18" charset="0"/>
                        </a:rPr>
                        <m:t>]</m:t>
                      </m:r>
                    </m:oMath>
                  </m:oMathPara>
                </a14:m>
                <a:endParaRPr lang="en-US" sz="1200" dirty="0"/>
              </a:p>
            </p:txBody>
          </p:sp>
        </mc:Choice>
        <mc:Fallback>
          <p:sp>
            <p:nvSpPr>
              <p:cNvPr id="22" name="TextBox 21">
                <a:extLst>
                  <a:ext uri="{FF2B5EF4-FFF2-40B4-BE49-F238E27FC236}">
                    <a16:creationId xmlns:a16="http://schemas.microsoft.com/office/drawing/2014/main" id="{801E0344-E5C2-09CA-A011-67CC29157016}"/>
                  </a:ext>
                </a:extLst>
              </p:cNvPr>
              <p:cNvSpPr txBox="1">
                <a:spLocks noRot="1" noChangeAspect="1" noMove="1" noResize="1" noEditPoints="1" noAdjustHandles="1" noChangeArrowheads="1" noChangeShapeType="1" noTextEdit="1"/>
              </p:cNvSpPr>
              <p:nvPr/>
            </p:nvSpPr>
            <p:spPr>
              <a:xfrm>
                <a:off x="8390631" y="2877640"/>
                <a:ext cx="394210" cy="187295"/>
              </a:xfrm>
              <a:prstGeom prst="rect">
                <a:avLst/>
              </a:prstGeom>
              <a:blipFill>
                <a:blip r:embed="rId3"/>
                <a:stretch>
                  <a:fillRect l="-3125" t="-6250" r="-12500" b="-31250"/>
                </a:stretch>
              </a:blipFill>
            </p:spPr>
            <p:txBody>
              <a:bodyPr/>
              <a:lstStyle/>
              <a:p>
                <a:r>
                  <a:rPr lang="en-US">
                    <a:noFill/>
                  </a:rPr>
                  <a:t> </a:t>
                </a:r>
              </a:p>
            </p:txBody>
          </p:sp>
        </mc:Fallback>
      </mc:AlternateContent>
      <p:cxnSp>
        <p:nvCxnSpPr>
          <p:cNvPr id="23" name="Straight Arrow Connector 22">
            <a:extLst>
              <a:ext uri="{FF2B5EF4-FFF2-40B4-BE49-F238E27FC236}">
                <a16:creationId xmlns:a16="http://schemas.microsoft.com/office/drawing/2014/main" id="{3CA12B19-B5B9-CC28-C8AF-C507E203F8B7}"/>
              </a:ext>
            </a:extLst>
          </p:cNvPr>
          <p:cNvCxnSpPr/>
          <p:nvPr/>
        </p:nvCxnSpPr>
        <p:spPr>
          <a:xfrm flipH="1">
            <a:off x="8461933" y="2515304"/>
            <a:ext cx="3615" cy="35484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26B35D71-DE34-7396-5E79-224F6E751AD0}"/>
                  </a:ext>
                </a:extLst>
              </p:cNvPr>
              <p:cNvSpPr txBox="1"/>
              <p:nvPr/>
            </p:nvSpPr>
            <p:spPr>
              <a:xfrm>
                <a:off x="9324483" y="2877640"/>
                <a:ext cx="426271" cy="18466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Sup>
                        <m:sSubSupPr>
                          <m:ctrlPr>
                            <a:rPr lang="en-US" sz="1200" b="0" i="1" smtClean="0">
                              <a:latin typeface="Cambria Math" panose="02040503050406030204" pitchFamily="18" charset="0"/>
                            </a:rPr>
                          </m:ctrlPr>
                        </m:sSubSupPr>
                        <m:e>
                          <m:r>
                            <a:rPr lang="en-US" sz="1200" b="0" i="1" smtClean="0">
                              <a:latin typeface="Cambria Math" panose="02040503050406030204" pitchFamily="18" charset="0"/>
                            </a:rPr>
                            <m:t>𝑥</m:t>
                          </m:r>
                        </m:e>
                        <m:sub>
                          <m:r>
                            <a:rPr lang="en-US" sz="1200" b="0" i="1" smtClean="0">
                              <a:latin typeface="Cambria Math" panose="02040503050406030204" pitchFamily="18" charset="0"/>
                            </a:rPr>
                            <m:t>𝑚</m:t>
                          </m:r>
                        </m:sub>
                        <m:sup>
                          <m:r>
                            <a:rPr lang="en-US" sz="1200" b="0" i="1" smtClean="0">
                              <a:latin typeface="Cambria Math" panose="02040503050406030204" pitchFamily="18" charset="0"/>
                            </a:rPr>
                            <m:t>2</m:t>
                          </m:r>
                        </m:sup>
                      </m:sSubSup>
                      <m:r>
                        <a:rPr lang="en-US" sz="1200" b="0" i="1" smtClean="0">
                          <a:latin typeface="Cambria Math" panose="02040503050406030204" pitchFamily="18" charset="0"/>
                        </a:rPr>
                        <m:t>[</m:t>
                      </m:r>
                      <m:r>
                        <a:rPr lang="en-US" sz="1200" b="0" i="1" smtClean="0">
                          <a:latin typeface="Cambria Math" panose="02040503050406030204" pitchFamily="18" charset="0"/>
                        </a:rPr>
                        <m:t>𝑛</m:t>
                      </m:r>
                      <m:r>
                        <a:rPr lang="en-US" sz="1200" b="0" i="1" smtClean="0">
                          <a:latin typeface="Cambria Math" panose="02040503050406030204" pitchFamily="18" charset="0"/>
                        </a:rPr>
                        <m:t>]</m:t>
                      </m:r>
                    </m:oMath>
                  </m:oMathPara>
                </a14:m>
                <a:endParaRPr lang="en-US" sz="1200" dirty="0"/>
              </a:p>
            </p:txBody>
          </p:sp>
        </mc:Choice>
        <mc:Fallback>
          <p:sp>
            <p:nvSpPr>
              <p:cNvPr id="24" name="TextBox 23">
                <a:extLst>
                  <a:ext uri="{FF2B5EF4-FFF2-40B4-BE49-F238E27FC236}">
                    <a16:creationId xmlns:a16="http://schemas.microsoft.com/office/drawing/2014/main" id="{26B35D71-DE34-7396-5E79-224F6E751AD0}"/>
                  </a:ext>
                </a:extLst>
              </p:cNvPr>
              <p:cNvSpPr txBox="1">
                <a:spLocks noRot="1" noChangeAspect="1" noMove="1" noResize="1" noEditPoints="1" noAdjustHandles="1" noChangeArrowheads="1" noChangeShapeType="1" noTextEdit="1"/>
              </p:cNvSpPr>
              <p:nvPr/>
            </p:nvSpPr>
            <p:spPr>
              <a:xfrm>
                <a:off x="9324483" y="2877640"/>
                <a:ext cx="426271" cy="184666"/>
              </a:xfrm>
              <a:prstGeom prst="rect">
                <a:avLst/>
              </a:prstGeom>
              <a:blipFill>
                <a:blip r:embed="rId4"/>
                <a:stretch>
                  <a:fillRect l="-5882" r="-11765" b="-40000"/>
                </a:stretch>
              </a:blipFill>
            </p:spPr>
            <p:txBody>
              <a:bodyPr/>
              <a:lstStyle/>
              <a:p>
                <a:r>
                  <a:rPr lang="en-US">
                    <a:noFill/>
                  </a:rPr>
                  <a:t> </a:t>
                </a:r>
              </a:p>
            </p:txBody>
          </p:sp>
        </mc:Fallback>
      </mc:AlternateContent>
      <p:cxnSp>
        <p:nvCxnSpPr>
          <p:cNvPr id="25" name="Straight Arrow Connector 24">
            <a:extLst>
              <a:ext uri="{FF2B5EF4-FFF2-40B4-BE49-F238E27FC236}">
                <a16:creationId xmlns:a16="http://schemas.microsoft.com/office/drawing/2014/main" id="{BF08098B-CDE9-63C2-5E16-6D57742BE98B}"/>
              </a:ext>
            </a:extLst>
          </p:cNvPr>
          <p:cNvCxnSpPr/>
          <p:nvPr/>
        </p:nvCxnSpPr>
        <p:spPr>
          <a:xfrm flipH="1">
            <a:off x="9511631" y="2511188"/>
            <a:ext cx="3615" cy="35484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75D63AA3-6D76-C5D5-6309-CFBB0EC719D4}"/>
                  </a:ext>
                </a:extLst>
              </p:cNvPr>
              <p:cNvSpPr txBox="1"/>
              <p:nvPr/>
            </p:nvSpPr>
            <p:spPr>
              <a:xfrm>
                <a:off x="8570795" y="3320023"/>
                <a:ext cx="931665" cy="75623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𝑚</m:t>
                          </m:r>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e>
                      </m:nary>
                    </m:oMath>
                  </m:oMathPara>
                </a14:m>
                <a:endParaRPr lang="en-US" dirty="0"/>
              </a:p>
            </p:txBody>
          </p:sp>
        </mc:Choice>
        <mc:Fallback>
          <p:sp>
            <p:nvSpPr>
              <p:cNvPr id="27" name="TextBox 26">
                <a:extLst>
                  <a:ext uri="{FF2B5EF4-FFF2-40B4-BE49-F238E27FC236}">
                    <a16:creationId xmlns:a16="http://schemas.microsoft.com/office/drawing/2014/main" id="{75D63AA3-6D76-C5D5-6309-CFBB0EC719D4}"/>
                  </a:ext>
                </a:extLst>
              </p:cNvPr>
              <p:cNvSpPr txBox="1">
                <a:spLocks noRot="1" noChangeAspect="1" noMove="1" noResize="1" noEditPoints="1" noAdjustHandles="1" noChangeArrowheads="1" noChangeShapeType="1" noTextEdit="1"/>
              </p:cNvSpPr>
              <p:nvPr/>
            </p:nvSpPr>
            <p:spPr>
              <a:xfrm>
                <a:off x="8570795" y="3320023"/>
                <a:ext cx="931665" cy="756233"/>
              </a:xfrm>
              <a:prstGeom prst="rect">
                <a:avLst/>
              </a:prstGeom>
              <a:blipFill>
                <a:blip r:embed="rId5"/>
                <a:stretch>
                  <a:fillRect l="-88000" t="-116393" r="-8000" b="-175410"/>
                </a:stretch>
              </a:blipFill>
            </p:spPr>
            <p:txBody>
              <a:bodyPr/>
              <a:lstStyle/>
              <a:p>
                <a:r>
                  <a:rPr lang="en-US">
                    <a:noFill/>
                  </a:rPr>
                  <a:t> </a:t>
                </a:r>
              </a:p>
            </p:txBody>
          </p:sp>
        </mc:Fallback>
      </mc:AlternateContent>
      <p:cxnSp>
        <p:nvCxnSpPr>
          <p:cNvPr id="29" name="Straight Arrow Connector 28">
            <a:extLst>
              <a:ext uri="{FF2B5EF4-FFF2-40B4-BE49-F238E27FC236}">
                <a16:creationId xmlns:a16="http://schemas.microsoft.com/office/drawing/2014/main" id="{7E0DD46A-2617-8D60-6CD5-C501AE286CF9}"/>
              </a:ext>
            </a:extLst>
          </p:cNvPr>
          <p:cNvCxnSpPr>
            <a:stCxn id="21" idx="2"/>
          </p:cNvCxnSpPr>
          <p:nvPr/>
        </p:nvCxnSpPr>
        <p:spPr>
          <a:xfrm>
            <a:off x="8163604" y="3053133"/>
            <a:ext cx="304832" cy="37586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Straight Arrow Connector 30">
            <a:extLst>
              <a:ext uri="{FF2B5EF4-FFF2-40B4-BE49-F238E27FC236}">
                <a16:creationId xmlns:a16="http://schemas.microsoft.com/office/drawing/2014/main" id="{A4144C12-6418-ECCC-EAEF-34EAE79A35B7}"/>
              </a:ext>
            </a:extLst>
          </p:cNvPr>
          <p:cNvCxnSpPr>
            <a:stCxn id="22" idx="2"/>
          </p:cNvCxnSpPr>
          <p:nvPr/>
        </p:nvCxnSpPr>
        <p:spPr>
          <a:xfrm>
            <a:off x="8587736" y="3064935"/>
            <a:ext cx="85417" cy="25508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Straight Arrow Connector 31">
            <a:extLst>
              <a:ext uri="{FF2B5EF4-FFF2-40B4-BE49-F238E27FC236}">
                <a16:creationId xmlns:a16="http://schemas.microsoft.com/office/drawing/2014/main" id="{2A1A4C3A-EA88-BC93-4BCC-B92110C9E0EE}"/>
              </a:ext>
            </a:extLst>
          </p:cNvPr>
          <p:cNvCxnSpPr>
            <a:cxnSpLocks/>
          </p:cNvCxnSpPr>
          <p:nvPr/>
        </p:nvCxnSpPr>
        <p:spPr>
          <a:xfrm flipH="1">
            <a:off x="9214513" y="3113522"/>
            <a:ext cx="321342" cy="31523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4" name="Rectangle 33">
            <a:extLst>
              <a:ext uri="{FF2B5EF4-FFF2-40B4-BE49-F238E27FC236}">
                <a16:creationId xmlns:a16="http://schemas.microsoft.com/office/drawing/2014/main" id="{51955C61-115B-EA58-3DB6-160B5A0F41F4}"/>
              </a:ext>
            </a:extLst>
          </p:cNvPr>
          <p:cNvSpPr/>
          <p:nvPr/>
        </p:nvSpPr>
        <p:spPr>
          <a:xfrm>
            <a:off x="7646399" y="4642691"/>
            <a:ext cx="2780455" cy="6301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Output Signal</a:t>
            </a:r>
          </a:p>
        </p:txBody>
      </p:sp>
      <p:cxnSp>
        <p:nvCxnSpPr>
          <p:cNvPr id="36" name="Straight Arrow Connector 35">
            <a:extLst>
              <a:ext uri="{FF2B5EF4-FFF2-40B4-BE49-F238E27FC236}">
                <a16:creationId xmlns:a16="http://schemas.microsoft.com/office/drawing/2014/main" id="{22B046B7-9647-0250-F09C-A85C576ED55A}"/>
              </a:ext>
            </a:extLst>
          </p:cNvPr>
          <p:cNvCxnSpPr>
            <a:stCxn id="27" idx="2"/>
            <a:endCxn id="34" idx="0"/>
          </p:cNvCxnSpPr>
          <p:nvPr/>
        </p:nvCxnSpPr>
        <p:spPr>
          <a:xfrm flipH="1">
            <a:off x="9036627" y="4076256"/>
            <a:ext cx="1" cy="5664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8514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EC4CB-A159-C641-CEE4-11D60D610D80}"/>
              </a:ext>
            </a:extLst>
          </p:cNvPr>
          <p:cNvSpPr>
            <a:spLocks noGrp="1"/>
          </p:cNvSpPr>
          <p:nvPr>
            <p:ph type="title"/>
          </p:nvPr>
        </p:nvSpPr>
        <p:spPr/>
        <p:txBody>
          <a:bodyPr/>
          <a:lstStyle/>
          <a:p>
            <a:r>
              <a:rPr lang="en-US" dirty="0"/>
              <a:t>Combined Time Domain</a:t>
            </a:r>
          </a:p>
        </p:txBody>
      </p:sp>
      <p:pic>
        <p:nvPicPr>
          <p:cNvPr id="5" name="Content Placeholder 4">
            <a:extLst>
              <a:ext uri="{FF2B5EF4-FFF2-40B4-BE49-F238E27FC236}">
                <a16:creationId xmlns:a16="http://schemas.microsoft.com/office/drawing/2014/main" id="{CD2F7551-98F7-10FD-17FF-C1A18AC0B7F6}"/>
              </a:ext>
            </a:extLst>
          </p:cNvPr>
          <p:cNvPicPr>
            <a:picLocks noGrp="1" noChangeAspect="1"/>
          </p:cNvPicPr>
          <p:nvPr>
            <p:ph idx="1"/>
          </p:nvPr>
        </p:nvPicPr>
        <p:blipFill>
          <a:blip r:embed="rId2"/>
          <a:stretch>
            <a:fillRect/>
          </a:stretch>
        </p:blipFill>
        <p:spPr>
          <a:xfrm>
            <a:off x="5552016" y="1690688"/>
            <a:ext cx="5801784" cy="4351338"/>
          </a:xfrm>
        </p:spPr>
      </p:pic>
      <p:sp>
        <p:nvSpPr>
          <p:cNvPr id="6" name="Content Placeholder 2">
            <a:extLst>
              <a:ext uri="{FF2B5EF4-FFF2-40B4-BE49-F238E27FC236}">
                <a16:creationId xmlns:a16="http://schemas.microsoft.com/office/drawing/2014/main" id="{9F77ABB3-4FD7-9B19-79EE-7F9C0605EC19}"/>
              </a:ext>
            </a:extLst>
          </p:cNvPr>
          <p:cNvSpPr txBox="1">
            <a:spLocks/>
          </p:cNvSpPr>
          <p:nvPr/>
        </p:nvSpPr>
        <p:spPr>
          <a:xfrm>
            <a:off x="331153" y="1813268"/>
            <a:ext cx="5220863"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This process appears to clean up the signal pretty substantially. We can now isolate bursts.</a:t>
            </a:r>
          </a:p>
        </p:txBody>
      </p:sp>
    </p:spTree>
    <p:extLst>
      <p:ext uri="{BB962C8B-B14F-4D97-AF65-F5344CB8AC3E}">
        <p14:creationId xmlns:p14="http://schemas.microsoft.com/office/powerpoint/2010/main" val="16005176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150B1-586B-CD77-BF8D-A0A181D7714E}"/>
              </a:ext>
            </a:extLst>
          </p:cNvPr>
          <p:cNvSpPr>
            <a:spLocks noGrp="1"/>
          </p:cNvSpPr>
          <p:nvPr>
            <p:ph type="title"/>
          </p:nvPr>
        </p:nvSpPr>
        <p:spPr/>
        <p:txBody>
          <a:bodyPr/>
          <a:lstStyle/>
          <a:p>
            <a:r>
              <a:rPr lang="en-US" dirty="0"/>
              <a:t>Burst Isolation</a:t>
            </a:r>
          </a:p>
        </p:txBody>
      </p:sp>
      <p:pic>
        <p:nvPicPr>
          <p:cNvPr id="5" name="Content Placeholder 4">
            <a:extLst>
              <a:ext uri="{FF2B5EF4-FFF2-40B4-BE49-F238E27FC236}">
                <a16:creationId xmlns:a16="http://schemas.microsoft.com/office/drawing/2014/main" id="{7D4CF23A-46FE-0F76-C8CA-855C4294E781}"/>
              </a:ext>
            </a:extLst>
          </p:cNvPr>
          <p:cNvPicPr>
            <a:picLocks noGrp="1" noChangeAspect="1"/>
          </p:cNvPicPr>
          <p:nvPr>
            <p:ph idx="1"/>
          </p:nvPr>
        </p:nvPicPr>
        <p:blipFill>
          <a:blip r:embed="rId2"/>
          <a:stretch>
            <a:fillRect/>
          </a:stretch>
        </p:blipFill>
        <p:spPr>
          <a:xfrm>
            <a:off x="5552016" y="1253331"/>
            <a:ext cx="5801784" cy="4351338"/>
          </a:xfrm>
        </p:spPr>
      </p:pic>
      <p:sp>
        <p:nvSpPr>
          <p:cNvPr id="6" name="Content Placeholder 2">
            <a:extLst>
              <a:ext uri="{FF2B5EF4-FFF2-40B4-BE49-F238E27FC236}">
                <a16:creationId xmlns:a16="http://schemas.microsoft.com/office/drawing/2014/main" id="{340B9042-A378-E139-36EF-A6ED4C8C72D9}"/>
              </a:ext>
            </a:extLst>
          </p:cNvPr>
          <p:cNvSpPr txBox="1">
            <a:spLocks/>
          </p:cNvSpPr>
          <p:nvPr/>
        </p:nvSpPr>
        <p:spPr>
          <a:xfrm>
            <a:off x="331153" y="1813268"/>
            <a:ext cx="5220863"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By using a moving average filter, we can combine the power across multiple pulses to find the location of bursts. This also makes noise far less prominent and we can set a lower detection threshold.</a:t>
            </a:r>
          </a:p>
          <a:p>
            <a:pPr lvl="1"/>
            <a:r>
              <a:rPr lang="en-US" dirty="0"/>
              <a:t>The moving average window is set to 5k samples</a:t>
            </a:r>
          </a:p>
          <a:p>
            <a:pPr lvl="1"/>
            <a:r>
              <a:rPr lang="en-US" dirty="0"/>
              <a:t>Detection threshold is set to 3dB above noise floor (3dB SNR)</a:t>
            </a:r>
          </a:p>
          <a:p>
            <a:r>
              <a:rPr lang="en-US" dirty="0"/>
              <a:t>From here we can now </a:t>
            </a:r>
            <a:r>
              <a:rPr lang="en-US" dirty="0" err="1"/>
              <a:t>snippetize</a:t>
            </a:r>
            <a:r>
              <a:rPr lang="en-US" dirty="0"/>
              <a:t> the bursts and inspect the individual pulses.</a:t>
            </a:r>
          </a:p>
        </p:txBody>
      </p:sp>
    </p:spTree>
    <p:extLst>
      <p:ext uri="{BB962C8B-B14F-4D97-AF65-F5344CB8AC3E}">
        <p14:creationId xmlns:p14="http://schemas.microsoft.com/office/powerpoint/2010/main" val="3095407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89B0D8-81D9-0C1C-48F9-9B7CF5ECE03F}"/>
              </a:ext>
            </a:extLst>
          </p:cNvPr>
          <p:cNvSpPr txBox="1">
            <a:spLocks/>
          </p:cNvSpPr>
          <p:nvPr/>
        </p:nvSpPr>
        <p:spPr>
          <a:xfrm>
            <a:off x="324990" y="1690688"/>
            <a:ext cx="5220863"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We now must create a consistent definition of a pulse. This burst can be smoothed by a smaller moving average window, but do we want to do that?</a:t>
            </a:r>
          </a:p>
          <a:p>
            <a:pPr lvl="1"/>
            <a:r>
              <a:rPr lang="en-US" sz="2000" dirty="0"/>
              <a:t>These extra peaks may be usable information or they may be noise.</a:t>
            </a:r>
          </a:p>
          <a:p>
            <a:pPr lvl="1"/>
            <a:r>
              <a:rPr lang="en-US" sz="2000" dirty="0"/>
              <a:t>Further research is needed to determine how useful these are.</a:t>
            </a:r>
          </a:p>
        </p:txBody>
      </p:sp>
      <p:sp>
        <p:nvSpPr>
          <p:cNvPr id="2" name="Title 1">
            <a:extLst>
              <a:ext uri="{FF2B5EF4-FFF2-40B4-BE49-F238E27FC236}">
                <a16:creationId xmlns:a16="http://schemas.microsoft.com/office/drawing/2014/main" id="{461A73CB-75A1-B7E9-8C66-8E2E69473C2D}"/>
              </a:ext>
            </a:extLst>
          </p:cNvPr>
          <p:cNvSpPr>
            <a:spLocks noGrp="1"/>
          </p:cNvSpPr>
          <p:nvPr>
            <p:ph type="title"/>
          </p:nvPr>
        </p:nvSpPr>
        <p:spPr/>
        <p:txBody>
          <a:bodyPr/>
          <a:lstStyle/>
          <a:p>
            <a:r>
              <a:rPr lang="en-US" dirty="0"/>
              <a:t>Burst Snippet</a:t>
            </a:r>
          </a:p>
        </p:txBody>
      </p:sp>
      <p:pic>
        <p:nvPicPr>
          <p:cNvPr id="4" name="Content Placeholder 4">
            <a:extLst>
              <a:ext uri="{FF2B5EF4-FFF2-40B4-BE49-F238E27FC236}">
                <a16:creationId xmlns:a16="http://schemas.microsoft.com/office/drawing/2014/main" id="{3B81C8B5-A243-7888-73E8-89DCFAF84620}"/>
              </a:ext>
            </a:extLst>
          </p:cNvPr>
          <p:cNvPicPr>
            <a:picLocks noGrp="1" noChangeAspect="1"/>
          </p:cNvPicPr>
          <p:nvPr>
            <p:ph idx="1"/>
          </p:nvPr>
        </p:nvPicPr>
        <p:blipFill>
          <a:blip r:embed="rId2"/>
          <a:stretch>
            <a:fillRect/>
          </a:stretch>
        </p:blipFill>
        <p:spPr>
          <a:xfrm>
            <a:off x="5947163" y="1703045"/>
            <a:ext cx="5801784" cy="4351338"/>
          </a:xfrm>
        </p:spPr>
      </p:pic>
      <p:sp>
        <p:nvSpPr>
          <p:cNvPr id="5" name="Oval 4">
            <a:extLst>
              <a:ext uri="{FF2B5EF4-FFF2-40B4-BE49-F238E27FC236}">
                <a16:creationId xmlns:a16="http://schemas.microsoft.com/office/drawing/2014/main" id="{B6395479-5610-BD2F-BA3C-5F94CE38193D}"/>
              </a:ext>
            </a:extLst>
          </p:cNvPr>
          <p:cNvSpPr/>
          <p:nvPr/>
        </p:nvSpPr>
        <p:spPr>
          <a:xfrm>
            <a:off x="7392294" y="3901969"/>
            <a:ext cx="559558" cy="128288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2A02855-6BA0-4B40-2837-20E221F416E2}"/>
              </a:ext>
            </a:extLst>
          </p:cNvPr>
          <p:cNvSpPr txBox="1"/>
          <p:nvPr/>
        </p:nvSpPr>
        <p:spPr>
          <a:xfrm>
            <a:off x="4551841" y="5184858"/>
            <a:ext cx="1988023" cy="646331"/>
          </a:xfrm>
          <a:prstGeom prst="rect">
            <a:avLst/>
          </a:prstGeom>
          <a:noFill/>
        </p:spPr>
        <p:txBody>
          <a:bodyPr wrap="square" rtlCol="0">
            <a:spAutoFit/>
          </a:bodyPr>
          <a:lstStyle/>
          <a:p>
            <a:r>
              <a:rPr lang="en-US" dirty="0"/>
              <a:t>Is this 1, 3, or  4?</a:t>
            </a:r>
          </a:p>
          <a:p>
            <a:endParaRPr lang="en-US" dirty="0"/>
          </a:p>
        </p:txBody>
      </p:sp>
      <p:cxnSp>
        <p:nvCxnSpPr>
          <p:cNvPr id="7" name="Straight Arrow Connector 6">
            <a:extLst>
              <a:ext uri="{FF2B5EF4-FFF2-40B4-BE49-F238E27FC236}">
                <a16:creationId xmlns:a16="http://schemas.microsoft.com/office/drawing/2014/main" id="{2456A237-A875-1112-2097-47A813881163}"/>
              </a:ext>
            </a:extLst>
          </p:cNvPr>
          <p:cNvCxnSpPr>
            <a:cxnSpLocks/>
            <a:endCxn id="5" idx="2"/>
          </p:cNvCxnSpPr>
          <p:nvPr/>
        </p:nvCxnSpPr>
        <p:spPr>
          <a:xfrm flipV="1">
            <a:off x="6264876" y="4543414"/>
            <a:ext cx="1127418" cy="75763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81667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83716-29D8-A29E-66A2-AA16E6A05447}"/>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CC25DACB-9514-472B-0DCD-18E02148086A}"/>
              </a:ext>
            </a:extLst>
          </p:cNvPr>
          <p:cNvSpPr>
            <a:spLocks noGrp="1"/>
          </p:cNvSpPr>
          <p:nvPr>
            <p:ph idx="1"/>
          </p:nvPr>
        </p:nvSpPr>
        <p:spPr/>
        <p:txBody>
          <a:bodyPr>
            <a:normAutofit fontScale="92500" lnSpcReduction="20000"/>
          </a:bodyPr>
          <a:lstStyle/>
          <a:p>
            <a:r>
              <a:rPr lang="en-US" dirty="0"/>
              <a:t>Once we create consistent definitions of pulses, we can then generate statistics for each wave file. </a:t>
            </a:r>
          </a:p>
          <a:p>
            <a:endParaRPr lang="en-US" dirty="0"/>
          </a:p>
          <a:p>
            <a:r>
              <a:rPr lang="en-US" dirty="0"/>
              <a:t>Common data points worth tracking are</a:t>
            </a:r>
          </a:p>
          <a:p>
            <a:pPr lvl="1"/>
            <a:r>
              <a:rPr lang="en-US" dirty="0"/>
              <a:t># of pulses</a:t>
            </a:r>
          </a:p>
          <a:p>
            <a:pPr lvl="1"/>
            <a:r>
              <a:rPr lang="en-US" dirty="0"/>
              <a:t>Pulse repetition interval (PRI)</a:t>
            </a:r>
          </a:p>
          <a:p>
            <a:pPr lvl="1"/>
            <a:r>
              <a:rPr lang="en-US" dirty="0"/>
              <a:t>Burst repetition interval (BRI)</a:t>
            </a:r>
          </a:p>
          <a:p>
            <a:pPr lvl="1"/>
            <a:r>
              <a:rPr lang="en-US" dirty="0"/>
              <a:t>Total pulse power</a:t>
            </a:r>
          </a:p>
          <a:p>
            <a:endParaRPr lang="en-US" dirty="0"/>
          </a:p>
          <a:p>
            <a:r>
              <a:rPr lang="en-US" dirty="0"/>
              <a:t>Putting these into a CSV file consisting </a:t>
            </a:r>
            <a:r>
              <a:rPr lang="en-US"/>
              <a:t>of large amounts </a:t>
            </a:r>
            <a:r>
              <a:rPr lang="en-US" dirty="0"/>
              <a:t>of recordings will allow us to analyze the data statistically and determine correlations between species.</a:t>
            </a:r>
          </a:p>
        </p:txBody>
      </p:sp>
    </p:spTree>
    <p:extLst>
      <p:ext uri="{BB962C8B-B14F-4D97-AF65-F5344CB8AC3E}">
        <p14:creationId xmlns:p14="http://schemas.microsoft.com/office/powerpoint/2010/main" val="12622152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TotalTime>
  <Words>499</Words>
  <Application>Microsoft Macintosh PowerPoint</Application>
  <PresentationFormat>Widescreen</PresentationFormat>
  <Paragraphs>47</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Cambria Math</vt:lpstr>
      <vt:lpstr>Office Theme</vt:lpstr>
      <vt:lpstr>Project Update 1</vt:lpstr>
      <vt:lpstr>Original Time Domain</vt:lpstr>
      <vt:lpstr>Magnitude Spectrogram (Linear Amplitude)</vt:lpstr>
      <vt:lpstr>Power Spectrogram (dB)</vt:lpstr>
      <vt:lpstr>Filtering Approach</vt:lpstr>
      <vt:lpstr>Combined Time Domain</vt:lpstr>
      <vt:lpstr>Burst Isolation</vt:lpstr>
      <vt:lpstr>Burst Snippet</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Ryan Kearns</dc:creator>
  <cp:lastModifiedBy>Ryan Kearns</cp:lastModifiedBy>
  <cp:revision>17</cp:revision>
  <dcterms:created xsi:type="dcterms:W3CDTF">2026-09-24T14:41:16Z</dcterms:created>
  <dcterms:modified xsi:type="dcterms:W3CDTF">2026-09-24T16:21:26Z</dcterms:modified>
</cp:coreProperties>
</file>